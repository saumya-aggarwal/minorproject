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1210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Munim: a WhatsApp shopping assistant with a web storefront that shares one cart, one account and one order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stages of the same failure: meaning is lost, then context is lost.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roles map to the four stages of one purchase.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constraints decide the whole design: retrieval, identity, and code-rendered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stage is a place where meaning is converted into state we can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Groq serves the assistant with fallback models; if it is unavailable a plain retrieval path still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arrow that leaves the application is an external service we cannot trust blindly: Meta, Razorpay, the LLM.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paths, each ending in a checkable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panel along this line while the live demo is loading.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Fallback if the live demo fails: screen recording on the laptop, second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numbers: every claim on this deck has a test behind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MINOR PROJECT  / 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kern="0" spc="300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MUNIM</a:t>
            </a:r>
            <a:endParaRPr lang="en-US" sz="5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697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WhatsApp Shopping Assistant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310128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commerce across WhatsApp and the web — a software engineering prototype for one shopping system behind two front doors.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4343400"/>
            <a:ext cx="1920240" cy="36576"/>
          </a:xfrm>
          <a:prstGeom prst="rect">
            <a:avLst/>
          </a:prstGeom>
          <a:solidFill>
            <a:srgbClr val="1F9E7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46177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100" b="1" dirty="0">
                <a:solidFill>
                  <a:srgbClr val="F2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SAUMYA AGGARWAL</a:t>
            </a:r>
            <a:r>
              <a:rPr lang="en-US" sz="1100" dirty="0">
                <a:solidFill>
                  <a:srgbClr val="9FB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08914812723</a:t>
            </a:r>
            <a:endParaRPr lang="en-US" sz="11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00" b="1" dirty="0">
                <a:solidFill>
                  <a:srgbClr val="F2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SAMAKSH AZARE</a:t>
            </a:r>
            <a:r>
              <a:rPr lang="en-US" sz="1100" dirty="0">
                <a:solidFill>
                  <a:srgbClr val="9FB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05214812723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715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Maharaja Agrasen Institute of Technology  ·  Computer Science and Technology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863072" y="62910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| NEED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 starts in conversation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0863072" y="62910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3493008" cy="2743200"/>
          </a:xfrm>
          <a:prstGeom prst="roundRect">
            <a:avLst>
              <a:gd name="adj" fmla="val 2667"/>
            </a:avLst>
          </a:prstGeom>
          <a:solidFill>
            <a:srgbClr val="123B31"/>
          </a:solidFill>
          <a:ln w="12700">
            <a:solidFill>
              <a:srgbClr val="1B46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CUSTOMER INTENT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11680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“Something for my sister's mehendi, nothing too heavy.”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GAP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73552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Occasion, relationship and budget arrive as meaning, not as form fields.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34256" y="1481328"/>
            <a:ext cx="3493008" cy="2743200"/>
          </a:xfrm>
          <a:prstGeom prst="roundRect">
            <a:avLst>
              <a:gd name="adj" fmla="val 2667"/>
            </a:avLst>
          </a:prstGeom>
          <a:solidFill>
            <a:srgbClr val="123B31"/>
          </a:solidFill>
          <a:ln w="12700">
            <a:solidFill>
              <a:srgbClr val="1B46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0288" y="1691640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SEARCH FRICTION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011680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“Show me something cheaper.”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3017520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GAP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3273552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search cannot interpret occasion, relationship or preference.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01584" y="1481328"/>
            <a:ext cx="3493008" cy="2743200"/>
          </a:xfrm>
          <a:prstGeom prst="roundRect">
            <a:avLst>
              <a:gd name="adj" fmla="val 2667"/>
            </a:avLst>
          </a:prstGeom>
          <a:solidFill>
            <a:srgbClr val="123B31"/>
          </a:solidFill>
          <a:ln w="12700">
            <a:solidFill>
              <a:srgbClr val="1B46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57616" y="1691640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BROKEN CONTINUITY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2011680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already told you my size.”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3017520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GAP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357616" y="3273552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and web hold separate carts, accounts and history.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4800600"/>
            <a:ext cx="11027664" cy="1051560"/>
          </a:xfrm>
          <a:prstGeom prst="roundRect">
            <a:avLst>
              <a:gd name="adj" fmla="val 6957"/>
            </a:avLst>
          </a:prstGeom>
          <a:solidFill>
            <a:srgbClr val="0F332B"/>
          </a:solidFill>
          <a:ln w="12700">
            <a:solidFill>
              <a:srgbClr val="1C4A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" y="49743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ENGINEERING QUESTION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841248" y="5248656"/>
            <a:ext cx="10479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semantic retrieval and identity linking turn WhatsApp into a reliable front door to one shopping system?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|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front doors, one shopping system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0863072" y="62910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29844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ethnic wear discovery combines retrieval-augmented product search with one shared customer state.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2585466" cy="2788920"/>
          </a:xfrm>
          <a:prstGeom prst="roundRect">
            <a:avLst>
              <a:gd name="adj" fmla="val 2829"/>
            </a:avLst>
          </a:prstGeom>
          <a:solidFill>
            <a:srgbClr val="123B31"/>
          </a:solidFill>
          <a:ln w="12700">
            <a:solidFill>
              <a:srgbClr val="1B46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" y="2084832"/>
            <a:ext cx="21465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ASK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395728"/>
            <a:ext cx="21465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2852928"/>
            <a:ext cx="21465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CAPABILITY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3108960"/>
            <a:ext cx="214655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Natural-language request in the customer's own words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80994" y="1874520"/>
            <a:ext cx="2585466" cy="2788920"/>
          </a:xfrm>
          <a:prstGeom prst="roundRect">
            <a:avLst>
              <a:gd name="adj" fmla="val 2829"/>
            </a:avLst>
          </a:prstGeom>
          <a:solidFill>
            <a:srgbClr val="0F332B"/>
          </a:solidFill>
          <a:ln w="12700">
            <a:solidFill>
              <a:srgbClr val="1C4A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00450" y="2084832"/>
            <a:ext cx="21465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RETRIEVE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600450" y="2395728"/>
            <a:ext cx="21465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600450" y="2852928"/>
            <a:ext cx="21465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CAPABILITY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3600450" y="3108960"/>
            <a:ext cx="214655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product discovery over the catalogue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5060" y="1874520"/>
            <a:ext cx="2585466" cy="2788920"/>
          </a:xfrm>
          <a:prstGeom prst="roundRect">
            <a:avLst>
              <a:gd name="adj" fmla="val 2829"/>
            </a:avLst>
          </a:prstGeom>
          <a:solidFill>
            <a:srgbClr val="123B31"/>
          </a:solidFill>
          <a:ln w="12700">
            <a:solidFill>
              <a:srgbClr val="1B463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14516" y="2084832"/>
            <a:ext cx="21465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RECOMMEND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14516" y="2395728"/>
            <a:ext cx="21465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414516" y="2852928"/>
            <a:ext cx="21465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CAPABILITY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414516" y="3108960"/>
            <a:ext cx="214655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matching, presented as numbered choices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009126" y="1874520"/>
            <a:ext cx="2585466" cy="2788920"/>
          </a:xfrm>
          <a:prstGeom prst="roundRect">
            <a:avLst>
              <a:gd name="adj" fmla="val 2829"/>
            </a:avLst>
          </a:prstGeom>
          <a:solidFill>
            <a:srgbClr val="0F332B"/>
          </a:solidFill>
          <a:ln w="12700">
            <a:solidFill>
              <a:srgbClr val="1C4A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28582" y="2084832"/>
            <a:ext cx="21465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CONTINUE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228582" y="2395728"/>
            <a:ext cx="21465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storefront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9228582" y="2852928"/>
            <a:ext cx="21465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CAPABILITY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9228582" y="3108960"/>
            <a:ext cx="214655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identity, cart and order state through checkout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507492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conversation can begin in WhatsApp and finish in the same shopping system — same cart, same account, same order history.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| CONTEXT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problem is hard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0863072" y="62910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3258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live in WhatsApp. Catalogues live on websites. Bridging them is not a UI problem.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3493008" cy="2697480"/>
          </a:xfrm>
          <a:prstGeom prst="roundRect">
            <a:avLst>
              <a:gd name="adj" fmla="val 2712"/>
            </a:avLst>
          </a:prstGeom>
          <a:solidFill>
            <a:srgbClr val="123B31"/>
          </a:solidFill>
          <a:ln w="12700">
            <a:solidFill>
              <a:srgbClr val="1B46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9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34640"/>
            <a:ext cx="2980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Meaning, not keywords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20440"/>
            <a:ext cx="2980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“Something for my sister's mehendi, nothing too heavy, under 3000” is not a SQL query.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34256" y="2103120"/>
            <a:ext cx="3493008" cy="2697480"/>
          </a:xfrm>
          <a:prstGeom prst="roundRect">
            <a:avLst>
              <a:gd name="adj" fmla="val 2712"/>
            </a:avLst>
          </a:prstGeom>
          <a:solidFill>
            <a:srgbClr val="123B31"/>
          </a:solidFill>
          <a:ln w="12700">
            <a:solidFill>
              <a:srgbClr val="1B46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0288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9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834640"/>
            <a:ext cx="2980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phone number is the whole identity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3520440"/>
            <a:ext cx="2980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Meta's webhook sends a number and a message. No cookie, no login, no session.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01584" y="2103120"/>
            <a:ext cx="3493008" cy="2697480"/>
          </a:xfrm>
          <a:prstGeom prst="roundRect">
            <a:avLst>
              <a:gd name="adj" fmla="val 2712"/>
            </a:avLst>
          </a:prstGeom>
          <a:solidFill>
            <a:srgbClr val="123B31"/>
          </a:solidFill>
          <a:ln w="12700">
            <a:solidFill>
              <a:srgbClr val="1B46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7616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9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8357616" y="2834640"/>
            <a:ext cx="2980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leaves no room to improvise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3520440"/>
            <a:ext cx="2980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LLM that invents a price is worse than no bot. Facts are rendered by code.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5349240"/>
            <a:ext cx="2606040" cy="310896"/>
          </a:xfrm>
          <a:prstGeom prst="roundRect">
            <a:avLst>
              <a:gd name="adj" fmla="val 47059"/>
            </a:avLst>
          </a:prstGeom>
          <a:solidFill>
            <a:srgbClr val="0F332B"/>
          </a:solidFill>
          <a:ln w="12700">
            <a:solidFill>
              <a:srgbClr val="1F9E7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" y="534924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84-PRODUCT CATALOGUE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37560" y="5349240"/>
            <a:ext cx="2606040" cy="310896"/>
          </a:xfrm>
          <a:prstGeom prst="roundRect">
            <a:avLst>
              <a:gd name="adj" fmla="val 47059"/>
            </a:avLst>
          </a:prstGeom>
          <a:solidFill>
            <a:srgbClr val="0F332B"/>
          </a:solidFill>
          <a:ln w="12700">
            <a:solidFill>
              <a:srgbClr val="1F9E7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37560" y="534924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WHATSAPP CLOUD API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08192" y="5349240"/>
            <a:ext cx="2606040" cy="310896"/>
          </a:xfrm>
          <a:prstGeom prst="roundRect">
            <a:avLst>
              <a:gd name="adj" fmla="val 47059"/>
            </a:avLst>
          </a:prstGeom>
          <a:solidFill>
            <a:srgbClr val="0F332B"/>
          </a:solidFill>
          <a:ln w="12700">
            <a:solidFill>
              <a:srgbClr val="1F9E7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08192" y="534924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STOREFRONT + SHARED CART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878824" y="5349240"/>
            <a:ext cx="2606040" cy="310896"/>
          </a:xfrm>
          <a:prstGeom prst="roundRect">
            <a:avLst>
              <a:gd name="adj" fmla="val 47059"/>
            </a:avLst>
          </a:prstGeom>
          <a:solidFill>
            <a:srgbClr val="0F332B"/>
          </a:solidFill>
          <a:ln w="12700">
            <a:solidFill>
              <a:srgbClr val="1F9E7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878824" y="534924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RAZORPAY (TEST MODE)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| APPROACH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customer intent to transaction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0863072" y="62910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29844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controlled stages connect catalogue knowledge, conversation context, identity and payment state.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2059229" cy="2926080"/>
          </a:xfrm>
          <a:prstGeom prst="roundRect">
            <a:avLst>
              <a:gd name="adj" fmla="val 3552"/>
            </a:avLst>
          </a:prstGeom>
          <a:solidFill>
            <a:srgbClr val="123B31"/>
          </a:solidFill>
          <a:ln w="12700">
            <a:solidFill>
              <a:srgbClr val="1B46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993392"/>
            <a:ext cx="16934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432304"/>
            <a:ext cx="1693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 modelling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035808"/>
            <a:ext cx="169346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Title, category, fabric, colour, occasion, fit, sizes, price — 32 fields per product.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607869" y="283464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9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09037" y="1828800"/>
            <a:ext cx="2059229" cy="2926080"/>
          </a:xfrm>
          <a:prstGeom prst="roundRect">
            <a:avLst>
              <a:gd name="adj" fmla="val 3552"/>
            </a:avLst>
          </a:prstGeom>
          <a:solidFill>
            <a:srgbClr val="0F332B"/>
          </a:solidFill>
          <a:ln w="12700">
            <a:solidFill>
              <a:srgbClr val="1C4A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91917" y="1993392"/>
            <a:ext cx="16934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991917" y="2432304"/>
            <a:ext cx="1693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indexing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991917" y="3035808"/>
            <a:ext cx="169346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all-MiniLM-L6-v2 embeddings with metadata in ChromaDB, 384 dimensions.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849978" y="283464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9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51146" y="1828800"/>
            <a:ext cx="2059229" cy="2926080"/>
          </a:xfrm>
          <a:prstGeom prst="roundRect">
            <a:avLst>
              <a:gd name="adj" fmla="val 3552"/>
            </a:avLst>
          </a:prstGeom>
          <a:solidFill>
            <a:srgbClr val="123B31"/>
          </a:solidFill>
          <a:ln w="12700">
            <a:solidFill>
              <a:srgbClr val="1B463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34026" y="1993392"/>
            <a:ext cx="16934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234026" y="2432304"/>
            <a:ext cx="1693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control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34026" y="3035808"/>
            <a:ext cx="169346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choices, session context, and commands validated in code.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092086" y="283464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9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293254" y="1828800"/>
            <a:ext cx="2059229" cy="2926080"/>
          </a:xfrm>
          <a:prstGeom prst="roundRect">
            <a:avLst>
              <a:gd name="adj" fmla="val 3552"/>
            </a:avLst>
          </a:prstGeom>
          <a:solidFill>
            <a:srgbClr val="0F332B"/>
          </a:solidFill>
          <a:ln w="12700">
            <a:solidFill>
              <a:srgbClr val="1C4A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76134" y="1993392"/>
            <a:ext cx="16934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476134" y="2432304"/>
            <a:ext cx="1693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bridge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476134" y="3035808"/>
            <a:ext cx="169346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Signed-in web account mints a single-use, time-limited link token sent over WhatsApp.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9334195" y="283464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9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535363" y="1828800"/>
            <a:ext cx="2059229" cy="2926080"/>
          </a:xfrm>
          <a:prstGeom prst="roundRect">
            <a:avLst>
              <a:gd name="adj" fmla="val 3552"/>
            </a:avLst>
          </a:prstGeom>
          <a:solidFill>
            <a:srgbClr val="123B31"/>
          </a:solidFill>
          <a:ln w="12700">
            <a:solidFill>
              <a:srgbClr val="1B463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718243" y="1993392"/>
            <a:ext cx="16934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718243" y="2432304"/>
            <a:ext cx="1693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 flow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718243" y="3035808"/>
            <a:ext cx="169346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state with idempotent, row-locked payment confirmation.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" y="5029200"/>
            <a:ext cx="11027664" cy="841248"/>
          </a:xfrm>
          <a:prstGeom prst="roundRect">
            <a:avLst>
              <a:gd name="adj" fmla="val 8696"/>
            </a:avLst>
          </a:prstGeom>
          <a:solidFill>
            <a:srgbClr val="0F332B"/>
          </a:solidFill>
          <a:ln w="12700">
            <a:solidFill>
              <a:srgbClr val="1C4A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1248" y="5248656"/>
            <a:ext cx="10479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 PRINCIPLE   </a:t>
            </a:r>
            <a:r>
              <a:rPr lang="en-US" sz="1350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facts, identity binding and transaction confirmation are persisted as explicit system state — never inferred by the model.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| ENGINEERING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0863072" y="62910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536192"/>
            <a:ext cx="11027664" cy="1060704"/>
          </a:xfrm>
          <a:prstGeom prst="roundRect">
            <a:avLst>
              <a:gd name="adj" fmla="val 6897"/>
            </a:avLst>
          </a:prstGeom>
          <a:solidFill>
            <a:srgbClr val="123B31"/>
          </a:solidFill>
          <a:ln w="12700">
            <a:solidFill>
              <a:srgbClr val="1B46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719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CLIENT CHANNELS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0299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Cloud API  ·  Jinja2 storefront  ·  Tailwind CSS (compiled)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327648" y="1810512"/>
            <a:ext cx="4992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front doors for one shopping experience.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724912"/>
            <a:ext cx="11027664" cy="1060704"/>
          </a:xfrm>
          <a:prstGeom prst="roundRect">
            <a:avLst>
              <a:gd name="adj" fmla="val 6897"/>
            </a:avLst>
          </a:prstGeom>
          <a:solidFill>
            <a:srgbClr val="0F332B"/>
          </a:solidFill>
          <a:ln w="12700">
            <a:solidFill>
              <a:srgbClr val="1C4A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2907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APPLICATION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321868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 ·  FastAPI + Uvicorn  ·  Pydantic / SQLModel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27648" y="2999232"/>
            <a:ext cx="4992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logic for webhook, storefront, identity and payment services.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913632"/>
            <a:ext cx="11027664" cy="1060704"/>
          </a:xfrm>
          <a:prstGeom prst="roundRect">
            <a:avLst>
              <a:gd name="adj" fmla="val 6897"/>
            </a:avLst>
          </a:prstGeom>
          <a:solidFill>
            <a:srgbClr val="123B31"/>
          </a:solidFill>
          <a:ln w="12700">
            <a:solidFill>
              <a:srgbClr val="1B46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4096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AI + RETRIEVAL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44074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all-MiniLM-L6-v2  ·  ChromaDB  ·  Groq gpt-oss-20b (tool calling)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27648" y="4187952"/>
            <a:ext cx="4992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embeddings keep the demo offline and free; the model never states a fact.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5102352"/>
            <a:ext cx="11027664" cy="1060704"/>
          </a:xfrm>
          <a:prstGeom prst="roundRect">
            <a:avLst>
              <a:gd name="adj" fmla="val 6897"/>
            </a:avLst>
          </a:prstGeom>
          <a:solidFill>
            <a:srgbClr val="0F332B"/>
          </a:solidFill>
          <a:ln w="12700">
            <a:solidFill>
              <a:srgbClr val="1C4A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5285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DATA + PAYMENTS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55961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15  ·  Razorpay test mode  ·  Docker Compose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27648" y="5376672"/>
            <a:ext cx="4992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protects identity and money; Compose makes the setup repeatable.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| 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0863072" y="62910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  <p:pic>
        <p:nvPicPr>
          <p:cNvPr id="5" name="Image 0" descr="slide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45" y="1204052"/>
            <a:ext cx="10676460" cy="50870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5486400"/>
            <a:ext cx="3523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5724144"/>
            <a:ext cx="3523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319016" y="5486400"/>
            <a:ext cx="3523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319016" y="5724144"/>
            <a:ext cx="3523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01733" y="5517348"/>
            <a:ext cx="3523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071104" y="5724144"/>
            <a:ext cx="3523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| IMPLEMENTATION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status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0863072" y="62910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29844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Phase 1 prototype runs end to end — tested on a real phone, including a test-mode payment.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3493008" cy="3429000"/>
          </a:xfrm>
          <a:prstGeom prst="roundRect">
            <a:avLst>
              <a:gd name="adj" fmla="val 2133"/>
            </a:avLst>
          </a:prstGeom>
          <a:solidFill>
            <a:srgbClr val="123B31"/>
          </a:solidFill>
          <a:ln w="12700">
            <a:solidFill>
              <a:srgbClr val="1B46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029968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CONVERSATION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77440"/>
            <a:ext cx="29809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Natural-language request → ChromaDB retrieval → numbered photo cards → contextual “2” or BUY.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2452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462272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are discovered and selected in chat.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34256" y="1828800"/>
            <a:ext cx="3493008" cy="3429000"/>
          </a:xfrm>
          <a:prstGeom prst="roundRect">
            <a:avLst>
              <a:gd name="adj" fmla="val 2133"/>
            </a:avLst>
          </a:prstGeom>
          <a:solidFill>
            <a:srgbClr val="123B31"/>
          </a:solidFill>
          <a:ln w="12700">
            <a:solidFill>
              <a:srgbClr val="1B46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0288" y="2029968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ACCOUNT CONTINUITY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377440"/>
            <a:ext cx="29809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sign-in → single-use LINK token → sent over WhatsApp → phone bound, earlier history merged.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422452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590288" y="4462272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continues across chat and web.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01584" y="1828800"/>
            <a:ext cx="3493008" cy="3429000"/>
          </a:xfrm>
          <a:prstGeom prst="roundRect">
            <a:avLst>
              <a:gd name="adj" fmla="val 2133"/>
            </a:avLst>
          </a:prstGeom>
          <a:solidFill>
            <a:srgbClr val="123B31"/>
          </a:solidFill>
          <a:ln w="12700">
            <a:solidFill>
              <a:srgbClr val="1B463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57616" y="2029968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COMMERCE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2377440"/>
            <a:ext cx="29809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cart and order schema → Razorpay payment link → signature check → idempotent capture.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57616" y="422452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357616" y="4462272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one WhatsApp confirmation per payment.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| PROTOTYPE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flow works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0863072" y="62910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566928" cy="566928"/>
          </a:xfrm>
          <a:prstGeom prst="ellipse">
            <a:avLst/>
          </a:prstGeom>
          <a:solidFill>
            <a:srgbClr val="1F9E7E"/>
          </a:solidFill>
          <a:ln w="12700">
            <a:solidFill>
              <a:srgbClr val="1F9E7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280160" y="1874520"/>
            <a:ext cx="2082546" cy="18288"/>
          </a:xfrm>
          <a:prstGeom prst="rect">
            <a:avLst/>
          </a:prstGeom>
          <a:solidFill>
            <a:srgbClr val="1B463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377440"/>
            <a:ext cx="2585466" cy="2743200"/>
          </a:xfrm>
          <a:prstGeom prst="roundRect">
            <a:avLst>
              <a:gd name="adj" fmla="val 2829"/>
            </a:avLst>
          </a:prstGeom>
          <a:solidFill>
            <a:srgbClr val="123B31"/>
          </a:solidFill>
          <a:ln w="12700">
            <a:solidFill>
              <a:srgbClr val="1B46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2578608"/>
            <a:ext cx="21465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Natural-language discovery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3200400"/>
            <a:ext cx="21465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customer asks for an occasion and a style in their own phrasing.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4663440"/>
            <a:ext cx="21465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 retrieval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80994" y="1600200"/>
            <a:ext cx="566928" cy="566928"/>
          </a:xfrm>
          <a:prstGeom prst="ellipse">
            <a:avLst/>
          </a:prstGeom>
          <a:solidFill>
            <a:srgbClr val="1F9E7E"/>
          </a:solidFill>
          <a:ln w="12700">
            <a:solidFill>
              <a:srgbClr val="1F9E7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80994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94226" y="1874520"/>
            <a:ext cx="2082546" cy="18288"/>
          </a:xfrm>
          <a:prstGeom prst="rect">
            <a:avLst/>
          </a:prstGeom>
          <a:solidFill>
            <a:srgbClr val="1B4638"/>
          </a:solidFill>
          <a:ln/>
        </p:spPr>
      </p:sp>
      <p:sp>
        <p:nvSpPr>
          <p:cNvPr id="15" name="Shape 13"/>
          <p:cNvSpPr/>
          <p:nvPr/>
        </p:nvSpPr>
        <p:spPr>
          <a:xfrm>
            <a:off x="3380994" y="2377440"/>
            <a:ext cx="2585466" cy="2743200"/>
          </a:xfrm>
          <a:prstGeom prst="roundRect">
            <a:avLst>
              <a:gd name="adj" fmla="val 2829"/>
            </a:avLst>
          </a:prstGeom>
          <a:solidFill>
            <a:srgbClr val="0F332B"/>
          </a:solidFill>
          <a:ln w="12700">
            <a:solidFill>
              <a:srgbClr val="1C4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00450" y="2578608"/>
            <a:ext cx="21465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product selection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3600450" y="3200400"/>
            <a:ext cx="21465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Photos, details and prices arrive as numbered, selectable cards.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600450" y="4663440"/>
            <a:ext cx="21465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Session-aware selection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95060" y="1600200"/>
            <a:ext cx="566928" cy="566928"/>
          </a:xfrm>
          <a:prstGeom prst="ellipse">
            <a:avLst/>
          </a:prstGeom>
          <a:solidFill>
            <a:srgbClr val="1F9E7E"/>
          </a:solidFill>
          <a:ln w="12700">
            <a:solidFill>
              <a:srgbClr val="1F9E7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9506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08292" y="1874520"/>
            <a:ext cx="2082546" cy="18288"/>
          </a:xfrm>
          <a:prstGeom prst="rect">
            <a:avLst/>
          </a:prstGeom>
          <a:solidFill>
            <a:srgbClr val="1B4638"/>
          </a:solidFill>
          <a:ln/>
        </p:spPr>
      </p:sp>
      <p:sp>
        <p:nvSpPr>
          <p:cNvPr id="22" name="Shape 20"/>
          <p:cNvSpPr/>
          <p:nvPr/>
        </p:nvSpPr>
        <p:spPr>
          <a:xfrm>
            <a:off x="6195060" y="2377440"/>
            <a:ext cx="2585466" cy="2743200"/>
          </a:xfrm>
          <a:prstGeom prst="roundRect">
            <a:avLst>
              <a:gd name="adj" fmla="val 2829"/>
            </a:avLst>
          </a:prstGeom>
          <a:solidFill>
            <a:srgbClr val="123B31"/>
          </a:solidFill>
          <a:ln w="12700">
            <a:solidFill>
              <a:srgbClr val="1B463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14516" y="2578608"/>
            <a:ext cx="21465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cart state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414516" y="3200400"/>
            <a:ext cx="21465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added in chat appear in the open web session within seconds.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14516" y="4663440"/>
            <a:ext cx="21465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 identity and cart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009126" y="1600200"/>
            <a:ext cx="566928" cy="566928"/>
          </a:xfrm>
          <a:prstGeom prst="ellipse">
            <a:avLst/>
          </a:prstGeom>
          <a:solidFill>
            <a:srgbClr val="1F9E7E"/>
          </a:solidFill>
          <a:ln w="12700">
            <a:solidFill>
              <a:srgbClr val="1F9E7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009126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6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009126" y="2377440"/>
            <a:ext cx="2585466" cy="2743200"/>
          </a:xfrm>
          <a:prstGeom prst="roundRect">
            <a:avLst>
              <a:gd name="adj" fmla="val 2829"/>
            </a:avLst>
          </a:prstGeom>
          <a:solidFill>
            <a:srgbClr val="0F332B"/>
          </a:solidFill>
          <a:ln w="12700">
            <a:solidFill>
              <a:srgbClr val="1C4A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28582" y="2578608"/>
            <a:ext cx="21465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confirmation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9228582" y="3200400"/>
            <a:ext cx="21465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 test checkout verifies the payment and a receipt returns to chat.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228582" y="4663440"/>
            <a:ext cx="21465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 order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| PROTOTYPE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in action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0863072" y="62910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29844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conversational shopping, demonstrated live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5330952" cy="3291840"/>
          </a:xfrm>
          <a:prstGeom prst="roundRect">
            <a:avLst>
              <a:gd name="adj" fmla="val 2222"/>
            </a:avLst>
          </a:prstGeom>
          <a:solidFill>
            <a:srgbClr val="123B31"/>
          </a:solidFill>
          <a:ln w="12700">
            <a:solidFill>
              <a:srgbClr val="1B46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9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60604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&amp; recommendation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3154680"/>
            <a:ext cx="4709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need a sherwani for my wedding under 10000”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matching products as photo cards with prices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second one” — resolved from session context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5330952" cy="3291840"/>
          </a:xfrm>
          <a:prstGeom prst="roundRect">
            <a:avLst>
              <a:gd name="adj" fmla="val 2222"/>
            </a:avLst>
          </a:prstGeom>
          <a:solidFill>
            <a:srgbClr val="0F332B"/>
          </a:solidFill>
          <a:ln w="12700">
            <a:solidFill>
              <a:srgbClr val="1C4A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74536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9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574536" y="260604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Cart, checkout &amp; confirmation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74536" y="3154680"/>
            <a:ext cx="4709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with a size, CART, CHECKOUT in chat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 payment link as a Pay Now button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in WhatsApp; the website updates in place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539496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Phase 1 prototype: conversational discovery, shared cart state and test-mode checkout.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| VERIFICATION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working — and what comes next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0863072" y="62910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44752"/>
            <a:ext cx="2619756" cy="1170432"/>
          </a:xfrm>
          <a:prstGeom prst="roundRect">
            <a:avLst>
              <a:gd name="adj" fmla="val 6250"/>
            </a:avLst>
          </a:prstGeom>
          <a:solidFill>
            <a:srgbClr val="123B31"/>
          </a:solidFill>
          <a:ln w="12700">
            <a:solidFill>
              <a:srgbClr val="1B46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572768"/>
            <a:ext cx="22539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/ 46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57984"/>
            <a:ext cx="2253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phrasings pass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69564" y="1444752"/>
            <a:ext cx="2619756" cy="1170432"/>
          </a:xfrm>
          <a:prstGeom prst="roundRect">
            <a:avLst>
              <a:gd name="adj" fmla="val 6250"/>
            </a:avLst>
          </a:prstGeom>
          <a:solidFill>
            <a:srgbClr val="0F332B"/>
          </a:solidFill>
          <a:ln w="12700">
            <a:solidFill>
              <a:srgbClr val="1C4A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52444" y="1572768"/>
            <a:ext cx="22539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552444" y="2157984"/>
            <a:ext cx="2253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checks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444752"/>
            <a:ext cx="2619756" cy="1170432"/>
          </a:xfrm>
          <a:prstGeom prst="roundRect">
            <a:avLst>
              <a:gd name="adj" fmla="val 6250"/>
            </a:avLst>
          </a:prstGeom>
          <a:solidFill>
            <a:srgbClr val="123B31"/>
          </a:solidFill>
          <a:ln w="12700">
            <a:solidFill>
              <a:srgbClr val="1B46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1572768"/>
            <a:ext cx="22539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157984"/>
            <a:ext cx="2253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account-linking checks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74836" y="1444752"/>
            <a:ext cx="2619756" cy="1170432"/>
          </a:xfrm>
          <a:prstGeom prst="roundRect">
            <a:avLst>
              <a:gd name="adj" fmla="val 6250"/>
            </a:avLst>
          </a:prstGeom>
          <a:solidFill>
            <a:srgbClr val="0F332B"/>
          </a:solidFill>
          <a:ln w="12700">
            <a:solidFill>
              <a:srgbClr val="1C4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57716" y="1572768"/>
            <a:ext cx="22539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9157716" y="2157984"/>
            <a:ext cx="2253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checks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2880360"/>
            <a:ext cx="5330952" cy="2651760"/>
          </a:xfrm>
          <a:prstGeom prst="roundRect">
            <a:avLst>
              <a:gd name="adj" fmla="val 2759"/>
            </a:avLst>
          </a:prstGeom>
          <a:solidFill>
            <a:srgbClr val="123B31"/>
          </a:solidFill>
          <a:ln w="12700">
            <a:solidFill>
              <a:srgbClr val="1B463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3072384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CURRENTLY WORKING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3401568"/>
            <a:ext cx="47823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Natural-language discovery with photo cards and numbered selection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linking; shared cart and orders across both channels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 test payments, signature check, WhatsApp confirmation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2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training: the owner approves or rejects a product; ratings re-rank it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2880360"/>
            <a:ext cx="5330952" cy="2651760"/>
          </a:xfrm>
          <a:prstGeom prst="roundRect">
            <a:avLst>
              <a:gd name="adj" fmla="val 2759"/>
            </a:avLst>
          </a:prstGeom>
          <a:solidFill>
            <a:srgbClr val="0F332B"/>
          </a:solidFill>
          <a:ln w="12700">
            <a:solidFill>
              <a:srgbClr val="1C4A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3072384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SCOPE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401568"/>
            <a:ext cx="47823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WhatsApp number and Razorpay credentials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reservation and fulfilment tracking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migrations for production-ready evolution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Multi-store deployment beyond a single catalogue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71500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FB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demonstrates the integrated path; the next phase hardens inventory, fulfilment and deployment.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1211</Words>
  <Application>Microsoft Office PowerPoint</Application>
  <PresentationFormat>Widescreen</PresentationFormat>
  <Paragraphs>199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Munim - Context-Aware WhatsApp Shopping Assistant</dc:title>
  <dc:subject>PptxGenJS Presentation</dc:subject>
  <dc:creator>Saumya Aggarwal, Samaksh Azare</dc:creator>
  <cp:lastModifiedBy>Saumya aggarwal</cp:lastModifiedBy>
  <cp:revision>2</cp:revision>
  <dcterms:created xsi:type="dcterms:W3CDTF">2026-09-22T19:54:26Z</dcterms:created>
  <dcterms:modified xsi:type="dcterms:W3CDTF">2026-09-22T19:58:24Z</dcterms:modified>
</cp:coreProperties>
</file>